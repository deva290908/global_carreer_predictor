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500">
                <a:solidFill>
                  <a:srgbClr val="F1F5F9"/>
                </a:solidFill>
              </a:rPr>
              <a:t>Placement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18CF8"/>
            </a:solidFill>
          </c:spPr>
          <c:cat>
            <c:strRef>
              <c:f>Sheet1!$A$2:$A$3</c:f>
              <c:strCache>
                <c:ptCount val="2"/>
                <c:pt idx="0">
                  <c:v>Placed</c:v>
                </c:pt>
                <c:pt idx="1">
                  <c:v>Not Placed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6153</c:v>
                </c:pt>
                <c:pt idx="1">
                  <c:v>3847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1F5F9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>
                <a:solidFill>
                  <a:srgbClr val="F1F5F9"/>
                </a:solidFill>
              </a:rPr>
              <a:t>Accuracy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18CF8"/>
            </a:solidFill>
          </c:spPr>
          <c:cat>
            <c:strRef>
              <c:f>Sheet1!$A$2:$A$3</c:f>
              <c:strCache>
                <c:ptCount val="2"/>
                <c:pt idx="0">
                  <c:v>Majority baseline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61.55</c:v>
                </c:pt>
                <c:pt idx="1">
                  <c:v>74.4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>
                <a:solidFill>
                  <a:srgbClr val="F1F5F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>
                <a:solidFill>
                  <a:srgbClr val="F1F5F9"/>
                </a:solidFill>
              </a:rPr>
              <a:t>Relative feature importance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18CF8"/>
            </a:solidFill>
          </c:spPr>
          <c:cat>
            <c:strRef>
              <c:f>Sheet1!$A$2:$A$5</c:f>
              <c:strCache>
                <c:ptCount val="4"/>
                <c:pt idx="0">
                  <c:v>Country</c:v>
                </c:pt>
                <c:pt idx="1">
                  <c:v>College Tier</c:v>
                </c:pt>
                <c:pt idx="2">
                  <c:v>Specialization</c:v>
                </c:pt>
                <c:pt idx="3">
                  <c:v>CGPA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70.0</c:v>
                </c:pt>
                <c:pt idx="1">
                  <c:v>18.9</c:v>
                </c:pt>
                <c:pt idx="2">
                  <c:v>3.2</c:v>
                </c:pt>
                <c:pt idx="3">
                  <c:v>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>
                <a:solidFill>
                  <a:srgbClr val="F1F5F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334155"/>
            </a:solidFill>
          </a:ln>
        </c:spPr>
        <c:txPr>
          <a:bodyPr/>
          <a:lstStyle/>
          <a:p>
            <a:pPr>
              <a:defRPr>
                <a:solidFill>
                  <a:srgbClr val="94A3B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108813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3600" b="1">
                <a:solidFill>
                  <a:srgbClr val="F1F5F9"/>
                </a:solidFill>
                <a:latin typeface="Aptos"/>
              </a:rPr>
              <a:t>GLOBAL CAREER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  <a:latin typeface="Aptos"/>
              </a:rPr>
              <a:t>Machine Learning for Employment &amp; Salary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2880360"/>
            <a:ext cx="72237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Aptos"/>
              </a:rPr>
              <a:t>SDG 8  •  Decent Work &amp; Economic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3703320"/>
            <a:ext cx="6492240" cy="1143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3831335"/>
            <a:ext cx="612647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PROJECT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4233672"/>
            <a:ext cx="6126479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F1F5F9"/>
                </a:solidFill>
                <a:latin typeface="Aptos"/>
              </a:rPr>
              <a:t>Placement prediction + expected salary + model-based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What is SDG 8?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Decent Work and Economic Growth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6636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53895"/>
            <a:ext cx="48006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SDG 8 IN SIMPLE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4800600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Aptos"/>
              </a:rPr>
              <a:t>SDG 8 is a United Nations goal focused on:
• Sustainable economic growth
• Productive employment
• Decent work
• Better economic 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34924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453895"/>
            <a:ext cx="498347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OUR CONNECTION TO SDG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56231"/>
            <a:ext cx="4983479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Aptos"/>
              </a:rPr>
              <a:t>Our project focuses on employment and career analysis.
We use machine learning to analyze student profiles and predict:
• Employment outcome
• Expected salary when placed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25312"/>
            <a:ext cx="10424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1">
                <a:solidFill>
                  <a:srgbClr val="FBBF24"/>
                </a:solidFill>
                <a:latin typeface="Aptos"/>
              </a:rPr>
              <a:t>Alignment with SDG 8: employment + economic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Turning many career factors into understandable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53895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Academic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56231"/>
            <a:ext cx="29718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"/>
              </a:rPr>
              <a:t>CGPA • backlogs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453895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56231"/>
            <a:ext cx="29718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"/>
              </a:rPr>
              <a:t>Internships •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32588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53895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856231"/>
            <a:ext cx="29718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"/>
              </a:rPr>
              <a:t>Aptitude • communication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328416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Career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730752"/>
            <a:ext cx="29718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"/>
              </a:rPr>
              <a:t>Specialization • industry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200400"/>
            <a:ext cx="3337560" cy="14173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328416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730752"/>
            <a:ext cx="297180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"/>
              </a:rPr>
              <a:t>College • country •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5074920"/>
            <a:ext cx="3886200" cy="822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5202936"/>
            <a:ext cx="35204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5605272"/>
            <a:ext cx="35204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Aptos"/>
              </a:rPr>
              <a:t>Can ML learn useful patterns from these factors?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AI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Two Random Forest models solve two different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57400"/>
            <a:ext cx="19659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185416"/>
            <a:ext cx="1600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STUDENT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87752"/>
            <a:ext cx="1600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11 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0592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57400"/>
            <a:ext cx="19659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85416"/>
            <a:ext cx="1600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RANDOM FOREST
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87752"/>
            <a:ext cx="1600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57400"/>
            <a:ext cx="19659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185416"/>
            <a:ext cx="1600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587752"/>
            <a:ext cx="1600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Placed / Not Placed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057400"/>
            <a:ext cx="19659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2185416"/>
            <a:ext cx="16002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RANDOM FOREST
REGRESSOR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587752"/>
            <a:ext cx="16002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45752" y="2743200"/>
            <a:ext cx="274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3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057400"/>
            <a:ext cx="20116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185416"/>
            <a:ext cx="164592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SALARY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587752"/>
            <a:ext cx="164592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Expected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4709160"/>
            <a:ext cx="8229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4837176"/>
            <a:ext cx="78638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REMEMBER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239512"/>
            <a:ext cx="78638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Aptos"/>
              </a:rPr>
              <a:t>Classification = category  |  Regression = number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10,000 synthetic student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97180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99616"/>
            <a:ext cx="26060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DATASET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901952"/>
            <a:ext cx="2606040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200" b="0">
                <a:solidFill>
                  <a:srgbClr val="F1F5F9"/>
                </a:solidFill>
                <a:latin typeface="Aptos"/>
              </a:rPr>
              <a:t>10,000 records
13 original columns
11 relevant input features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977639" y="1417320"/>
          <a:ext cx="41148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75320" y="1371600"/>
            <a:ext cx="324612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499616"/>
            <a:ext cx="28803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KEY 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901952"/>
            <a:ext cx="2880360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F1F5F9"/>
                </a:solidFill>
                <a:latin typeface="Aptos"/>
              </a:rPr>
              <a:t>Synthetic data
The results demonstrate the ML workflow. They should not be treated as real-world employment statistics.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Placement Prediction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Random Forest Classifier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25880"/>
          <a:ext cx="640080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371600"/>
            <a:ext cx="4160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499616"/>
            <a:ext cx="37947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901952"/>
            <a:ext cx="3794759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000" b="0">
                <a:solidFill>
                  <a:srgbClr val="F1F5F9"/>
                </a:solidFill>
                <a:latin typeface="Aptos"/>
              </a:rPr>
              <a:t>74.40%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880360"/>
            <a:ext cx="4160520" cy="1325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3008376"/>
            <a:ext cx="37947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F1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410712"/>
            <a:ext cx="3794759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F1F5F9"/>
                </a:solidFill>
                <a:latin typeface="Aptos"/>
              </a:rPr>
              <a:t>Placed: 0.80
Not Placed: 0.64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389120"/>
            <a:ext cx="416052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4517136"/>
            <a:ext cx="37947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919472"/>
            <a:ext cx="3794759" cy="41147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Majority-class prediction = 61.55%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Salary Prediction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Random Forest Regressor — trained using placed candidates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3756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99616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R² = 0.9480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2971800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Aptos"/>
              </a:rPr>
              <a:t>Explains about 94.8% of the variation in salary values in the test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71600"/>
            <a:ext cx="333756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499616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MAE = ₹4,224.11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971800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0">
                <a:solidFill>
                  <a:srgbClr val="F1F5F9"/>
                </a:solidFill>
                <a:latin typeface="Aptos"/>
              </a:rPr>
              <a:t>Predictions differed from actual salaries by about ₹4,224 on average.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371600"/>
            <a:ext cx="333756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1499616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R² ≠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1901952"/>
            <a:ext cx="2971800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900" b="0">
                <a:solidFill>
                  <a:srgbClr val="F1F5F9"/>
                </a:solidFill>
                <a:latin typeface="Aptos"/>
              </a:rPr>
              <a:t>R² = explained salary variation
MAE = typical prediction error
They measure different things.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Explainable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Feature importance from the current salary model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325880"/>
          <a:ext cx="6492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1371600"/>
            <a:ext cx="4160520" cy="4343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79" y="1499616"/>
            <a:ext cx="37947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HOW TO READ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901952"/>
            <a:ext cx="3794759" cy="3703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Country has the highest relative importance in this trained model.
Feature importance shows model reliance.
It does NOT prove that a feature causes salary differences.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8813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ptos"/>
              </a:rPr>
              <a:t>Flask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453895"/>
            <a:ext cx="3063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SAMPLE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1856231"/>
            <a:ext cx="3063240" cy="3886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F1F5F9"/>
                </a:solidFill>
                <a:latin typeface="Aptos"/>
              </a:rPr>
              <a:t>CGPA 8.2
Backlogs 0
College Tier 1
Country USA
University Top 100
Internships 3
Aptitude 78
Communication 82
Specialization AI/ML
Industry Tech
Internship Quality 7.5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3756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453895"/>
            <a:ext cx="29718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MODEL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56231"/>
            <a:ext cx="2971800" cy="3886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200" b="0">
                <a:solidFill>
                  <a:srgbClr val="F1F5F9"/>
                </a:solidFill>
                <a:latin typeface="Aptos"/>
              </a:rPr>
              <a:t>PLACED
98.5% probability
₹120,000 expected salary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429000" cy="4526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53895"/>
            <a:ext cx="3063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APPLICATION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56231"/>
            <a:ext cx="3063240" cy="3886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• Profile input
• Placement prediction
• Probability
• Salary estimate
• Profile insights
• Feature importance
• What-if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900" b="1">
                <a:solidFill>
                  <a:srgbClr val="F1F5F9"/>
                </a:solidFill>
                <a:latin typeface="Aptos"/>
              </a:rPr>
              <a:t>Limitations, Future Work &amp; 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3474720" cy="4434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453895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Aptos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1856231"/>
            <a:ext cx="3108960" cy="3794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• Synthetic dataset
• Not real-world employment statistics
• Feature importance ≠ causation
• Performance may change on new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474720" cy="4434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53895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Aptos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856231"/>
            <a:ext cx="3108960" cy="3794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• Real-world datasets
• More career features
• Compare ML algorithms
• Better explainability
• Continuous testing &amp; retraining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25880"/>
            <a:ext cx="3474720" cy="4434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453895"/>
            <a:ext cx="31089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Aptos"/>
              </a:rPr>
              <a:t>END-TO-END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56231"/>
            <a:ext cx="3108960" cy="379475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Aptos"/>
              </a:rPr>
              <a:t>PROFILE
↓
PLACEMENT MODEL
↓
SALARY MODEL
↓
FLASK WEB APP
ML + Web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4241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500" b="1">
                <a:solidFill>
                  <a:srgbClr val="F1F5F9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tos"/>
              </a:rPr>
              <a:t>Global Career Predictor  •  SDG 8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